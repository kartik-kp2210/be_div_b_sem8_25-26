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9"/>
  </p:notesMasterIdLst>
  <p:sldIdLst>
    <p:sldId id="256" r:id="rId2"/>
    <p:sldId id="286" r:id="rId3"/>
    <p:sldId id="271" r:id="rId4"/>
    <p:sldId id="297" r:id="rId5"/>
    <p:sldId id="298" r:id="rId6"/>
    <p:sldId id="292" r:id="rId7"/>
    <p:sldId id="281" r:id="rId8"/>
    <p:sldId id="289" r:id="rId9"/>
    <p:sldId id="290" r:id="rId10"/>
    <p:sldId id="300" r:id="rId11"/>
    <p:sldId id="287" r:id="rId12"/>
    <p:sldId id="294" r:id="rId13"/>
    <p:sldId id="295" r:id="rId14"/>
    <p:sldId id="288" r:id="rId15"/>
    <p:sldId id="291" r:id="rId16"/>
    <p:sldId id="299" r:id="rId17"/>
    <p:sldId id="260" r:id="rId18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8" autoAdjust="0"/>
    <p:restoredTop sz="94632" autoAdjust="0"/>
  </p:normalViewPr>
  <p:slideViewPr>
    <p:cSldViewPr>
      <p:cViewPr>
        <p:scale>
          <a:sx n="75" d="100"/>
          <a:sy n="75" d="100"/>
        </p:scale>
        <p:origin x="1152" y="-5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BEDA17-DEA2-4971-BFA8-421302B2F22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D19A4B-250B-4120-B226-C6AE6301410A}">
      <dgm:prSet phldrT="[Text]" custT="1"/>
      <dgm:spPr/>
      <dgm:t>
        <a:bodyPr/>
        <a:lstStyle/>
        <a:p>
          <a:r>
            <a: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SDE4: Quality Education</a:t>
          </a:r>
          <a:endParaRPr lang="en-IN" sz="28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D2346A-4019-4EF0-81B7-31AE792F1D56}" type="parTrans" cxnId="{30D45878-F57E-41E9-B6E0-1E5B4DBA3562}">
      <dgm:prSet/>
      <dgm:spPr/>
      <dgm:t>
        <a:bodyPr/>
        <a:lstStyle/>
        <a:p>
          <a:endParaRPr lang="en-IN"/>
        </a:p>
      </dgm:t>
    </dgm:pt>
    <dgm:pt modelId="{5B040223-FC88-4DED-B01D-FB954D2076F7}" type="sibTrans" cxnId="{30D45878-F57E-41E9-B6E0-1E5B4DBA3562}">
      <dgm:prSet/>
      <dgm:spPr/>
      <dgm:t>
        <a:bodyPr/>
        <a:lstStyle/>
        <a:p>
          <a:endParaRPr lang="en-IN"/>
        </a:p>
      </dgm:t>
    </dgm:pt>
    <dgm:pt modelId="{2CD0E8FA-7C97-4E84-AAE4-5385054DC73F}">
      <dgm:prSet phldrT="[Text]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accessible, high-quality learning tools for engineering students.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D778D3-9FBC-4040-802A-3D9AF7558D35}" type="parTrans" cxnId="{5394CD48-AD97-47B4-869C-DD27DE0AEFF8}">
      <dgm:prSet/>
      <dgm:spPr/>
      <dgm:t>
        <a:bodyPr/>
        <a:lstStyle/>
        <a:p>
          <a:endParaRPr lang="en-IN"/>
        </a:p>
      </dgm:t>
    </dgm:pt>
    <dgm:pt modelId="{9407C3AD-74FC-414D-B7C3-E80C4ECFB05F}" type="sibTrans" cxnId="{5394CD48-AD97-47B4-869C-DD27DE0AEFF8}">
      <dgm:prSet/>
      <dgm:spPr/>
      <dgm:t>
        <a:bodyPr/>
        <a:lstStyle/>
        <a:p>
          <a:endParaRPr lang="en-IN"/>
        </a:p>
      </dgm:t>
    </dgm:pt>
    <dgm:pt modelId="{D6A9AE18-2A9D-4DF2-A182-738C1629717F}">
      <dgm:prSet phldrT="[Text]" custT="1"/>
      <dgm:spPr/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SDE9: Industry, Innovation, and Infrastructure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A3D6E6-AB33-4DF1-B4B5-8774B497FB4C}" type="parTrans" cxnId="{018770CB-1E93-4E23-9E01-BC406662DEA2}">
      <dgm:prSet/>
      <dgm:spPr/>
      <dgm:t>
        <a:bodyPr/>
        <a:lstStyle/>
        <a:p>
          <a:endParaRPr lang="en-IN"/>
        </a:p>
      </dgm:t>
    </dgm:pt>
    <dgm:pt modelId="{959331F9-F27F-44C0-96A4-B6EC530BEA93}" type="sibTrans" cxnId="{018770CB-1E93-4E23-9E01-BC406662DEA2}">
      <dgm:prSet/>
      <dgm:spPr/>
      <dgm:t>
        <a:bodyPr/>
        <a:lstStyle/>
        <a:p>
          <a:endParaRPr lang="en-IN"/>
        </a:p>
      </dgm:t>
    </dgm:pt>
    <dgm:pt modelId="{D715BF66-C792-4604-B96E-9654B6E1FA3A}">
      <dgm:prSet phldrT="[Text]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Builds an innovative digital learning platform using AI, NLP, and symbolic computation.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FC0EFE-F1DC-4CA7-951C-2CAB25F63F30}" type="parTrans" cxnId="{AF42A85E-EE3F-4A14-8C93-04A33353B21C}">
      <dgm:prSet/>
      <dgm:spPr/>
      <dgm:t>
        <a:bodyPr/>
        <a:lstStyle/>
        <a:p>
          <a:endParaRPr lang="en-IN"/>
        </a:p>
      </dgm:t>
    </dgm:pt>
    <dgm:pt modelId="{F8908E07-17DF-4D95-A99B-6003C7174011}" type="sibTrans" cxnId="{AF42A85E-EE3F-4A14-8C93-04A33353B21C}">
      <dgm:prSet/>
      <dgm:spPr/>
      <dgm:t>
        <a:bodyPr/>
        <a:lstStyle/>
        <a:p>
          <a:endParaRPr lang="en-IN"/>
        </a:p>
      </dgm:t>
    </dgm:pt>
    <dgm:pt modelId="{794F4420-7DDB-416C-B7E9-59A368F76DE4}">
      <dgm:prSet phldrT="[Text]"/>
      <dgm:spPr/>
      <dgm:t>
        <a:bodyPr/>
        <a:lstStyle/>
        <a:p>
          <a:pPr algn="just"/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F6A689-FD96-4C5C-9FB1-F3854EBD5344}" type="parTrans" cxnId="{DCDF10E0-28DA-4050-9864-3393033C562B}">
      <dgm:prSet/>
      <dgm:spPr/>
      <dgm:t>
        <a:bodyPr/>
        <a:lstStyle/>
        <a:p>
          <a:endParaRPr lang="en-IN"/>
        </a:p>
      </dgm:t>
    </dgm:pt>
    <dgm:pt modelId="{FA031482-8273-4A17-B128-BD2D9854E3E7}" type="sibTrans" cxnId="{DCDF10E0-28DA-4050-9864-3393033C562B}">
      <dgm:prSet/>
      <dgm:spPr/>
      <dgm:t>
        <a:bodyPr/>
        <a:lstStyle/>
        <a:p>
          <a:endParaRPr lang="en-IN"/>
        </a:p>
      </dgm:t>
    </dgm:pt>
    <dgm:pt modelId="{894E2CEB-0993-41E2-B15D-D601F6961419}">
      <dgm:prSet phldrT="[Text]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Encourages the integration of technology in education to modernize the learning process.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85F15D-1496-4812-8366-E22497E4791F}" type="parTrans" cxnId="{89593E51-2A97-4967-B937-969CDDF64978}">
      <dgm:prSet/>
      <dgm:spPr/>
      <dgm:t>
        <a:bodyPr/>
        <a:lstStyle/>
        <a:p>
          <a:endParaRPr lang="en-IN"/>
        </a:p>
      </dgm:t>
    </dgm:pt>
    <dgm:pt modelId="{E79D758A-1496-4DCF-81FF-2F9CFE135234}" type="sibTrans" cxnId="{89593E51-2A97-4967-B937-969CDDF64978}">
      <dgm:prSet/>
      <dgm:spPr/>
      <dgm:t>
        <a:bodyPr/>
        <a:lstStyle/>
        <a:p>
          <a:endParaRPr lang="en-IN"/>
        </a:p>
      </dgm:t>
    </dgm:pt>
    <dgm:pt modelId="{E8A73F49-4444-439D-B86D-9417C37DCB7E}">
      <dgm:prSet phldrT="[Text]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Enhances conceptual understanding through step-by-step solutions and chatbot 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78A3F4-505D-4F97-91D8-978BE62C48FE}" type="parTrans" cxnId="{AEDCE3D6-194A-4055-A657-94EA42494B5C}">
      <dgm:prSet/>
      <dgm:spPr/>
      <dgm:t>
        <a:bodyPr/>
        <a:lstStyle/>
        <a:p>
          <a:endParaRPr lang="en-IN"/>
        </a:p>
      </dgm:t>
    </dgm:pt>
    <dgm:pt modelId="{0714AE94-36B2-419F-AAE1-3EA67C39E3B5}" type="sibTrans" cxnId="{AEDCE3D6-194A-4055-A657-94EA42494B5C}">
      <dgm:prSet/>
      <dgm:spPr/>
      <dgm:t>
        <a:bodyPr/>
        <a:lstStyle/>
        <a:p>
          <a:endParaRPr lang="en-IN"/>
        </a:p>
      </dgm:t>
    </dgm:pt>
    <dgm:pt modelId="{75DA8952-46F8-4AE6-9616-C88FBB626080}" type="pres">
      <dgm:prSet presAssocID="{CABEDA17-DEA2-4971-BFA8-421302B2F223}" presName="Name0" presStyleCnt="0">
        <dgm:presLayoutVars>
          <dgm:dir/>
          <dgm:animLvl val="lvl"/>
          <dgm:resizeHandles val="exact"/>
        </dgm:presLayoutVars>
      </dgm:prSet>
      <dgm:spPr/>
    </dgm:pt>
    <dgm:pt modelId="{79634F19-D602-436E-B980-5E5B0115C7A7}" type="pres">
      <dgm:prSet presAssocID="{BCD19A4B-250B-4120-B226-C6AE6301410A}" presName="linNode" presStyleCnt="0"/>
      <dgm:spPr/>
    </dgm:pt>
    <dgm:pt modelId="{B33ADDC9-ABD0-41AA-8B2F-68E26C1E033E}" type="pres">
      <dgm:prSet presAssocID="{BCD19A4B-250B-4120-B226-C6AE6301410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92768C7-A754-4EF5-9849-DE66F92EE8CF}" type="pres">
      <dgm:prSet presAssocID="{BCD19A4B-250B-4120-B226-C6AE6301410A}" presName="descendantText" presStyleLbl="alignAccFollowNode1" presStyleIdx="0" presStyleCnt="2">
        <dgm:presLayoutVars>
          <dgm:bulletEnabled val="1"/>
        </dgm:presLayoutVars>
      </dgm:prSet>
      <dgm:spPr/>
    </dgm:pt>
    <dgm:pt modelId="{FC9D7696-FFF2-4978-83E8-A6A8F24A7089}" type="pres">
      <dgm:prSet presAssocID="{5B040223-FC88-4DED-B01D-FB954D2076F7}" presName="sp" presStyleCnt="0"/>
      <dgm:spPr/>
    </dgm:pt>
    <dgm:pt modelId="{9875A40F-7076-4C78-858B-9F7B44B4BAEF}" type="pres">
      <dgm:prSet presAssocID="{D6A9AE18-2A9D-4DF2-A182-738C1629717F}" presName="linNode" presStyleCnt="0"/>
      <dgm:spPr/>
    </dgm:pt>
    <dgm:pt modelId="{16EA3CF7-02BF-49F8-8FC2-DFC76B28DA30}" type="pres">
      <dgm:prSet presAssocID="{D6A9AE18-2A9D-4DF2-A182-738C1629717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9E2CD15-98B2-4845-BCCC-C4A305E53EEA}" type="pres">
      <dgm:prSet presAssocID="{D6A9AE18-2A9D-4DF2-A182-738C1629717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47250C-F599-4851-8C1A-E9E5D6A4A9D3}" type="presOf" srcId="{2CD0E8FA-7C97-4E84-AAE4-5385054DC73F}" destId="{892768C7-A754-4EF5-9849-DE66F92EE8CF}" srcOrd="0" destOrd="0" presId="urn:microsoft.com/office/officeart/2005/8/layout/vList5"/>
    <dgm:cxn modelId="{5B171E2C-326C-418A-936B-A32CD7EEA757}" type="presOf" srcId="{894E2CEB-0993-41E2-B15D-D601F6961419}" destId="{89E2CD15-98B2-4845-BCCC-C4A305E53EEA}" srcOrd="0" destOrd="1" presId="urn:microsoft.com/office/officeart/2005/8/layout/vList5"/>
    <dgm:cxn modelId="{AF42A85E-EE3F-4A14-8C93-04A33353B21C}" srcId="{D6A9AE18-2A9D-4DF2-A182-738C1629717F}" destId="{D715BF66-C792-4604-B96E-9654B6E1FA3A}" srcOrd="0" destOrd="0" parTransId="{47FC0EFE-F1DC-4CA7-951C-2CAB25F63F30}" sibTransId="{F8908E07-17DF-4D95-A99B-6003C7174011}"/>
    <dgm:cxn modelId="{5394CD48-AD97-47B4-869C-DD27DE0AEFF8}" srcId="{BCD19A4B-250B-4120-B226-C6AE6301410A}" destId="{2CD0E8FA-7C97-4E84-AAE4-5385054DC73F}" srcOrd="0" destOrd="0" parTransId="{C6D778D3-9FBC-4040-802A-3D9AF7558D35}" sibTransId="{9407C3AD-74FC-414D-B7C3-E80C4ECFB05F}"/>
    <dgm:cxn modelId="{89593E51-2A97-4967-B937-969CDDF64978}" srcId="{D6A9AE18-2A9D-4DF2-A182-738C1629717F}" destId="{894E2CEB-0993-41E2-B15D-D601F6961419}" srcOrd="1" destOrd="0" parTransId="{CD85F15D-1496-4812-8366-E22497E4791F}" sibTransId="{E79D758A-1496-4DCF-81FF-2F9CFE135234}"/>
    <dgm:cxn modelId="{078B7D71-B117-43FD-9BA0-562674EDEFB3}" type="presOf" srcId="{CABEDA17-DEA2-4971-BFA8-421302B2F223}" destId="{75DA8952-46F8-4AE6-9616-C88FBB626080}" srcOrd="0" destOrd="0" presId="urn:microsoft.com/office/officeart/2005/8/layout/vList5"/>
    <dgm:cxn modelId="{30D45878-F57E-41E9-B6E0-1E5B4DBA3562}" srcId="{CABEDA17-DEA2-4971-BFA8-421302B2F223}" destId="{BCD19A4B-250B-4120-B226-C6AE6301410A}" srcOrd="0" destOrd="0" parTransId="{A8D2346A-4019-4EF0-81B7-31AE792F1D56}" sibTransId="{5B040223-FC88-4DED-B01D-FB954D2076F7}"/>
    <dgm:cxn modelId="{DEB2047F-BC1B-44F4-997C-D8DEEB42B496}" type="presOf" srcId="{D6A9AE18-2A9D-4DF2-A182-738C1629717F}" destId="{16EA3CF7-02BF-49F8-8FC2-DFC76B28DA30}" srcOrd="0" destOrd="0" presId="urn:microsoft.com/office/officeart/2005/8/layout/vList5"/>
    <dgm:cxn modelId="{5B8EBC8C-3091-41E0-87BE-1B55D42674EF}" type="presOf" srcId="{794F4420-7DDB-416C-B7E9-59A368F76DE4}" destId="{89E2CD15-98B2-4845-BCCC-C4A305E53EEA}" srcOrd="0" destOrd="2" presId="urn:microsoft.com/office/officeart/2005/8/layout/vList5"/>
    <dgm:cxn modelId="{3896AA91-2C6F-4132-A4E1-1AB4B34908E3}" type="presOf" srcId="{BCD19A4B-250B-4120-B226-C6AE6301410A}" destId="{B33ADDC9-ABD0-41AA-8B2F-68E26C1E033E}" srcOrd="0" destOrd="0" presId="urn:microsoft.com/office/officeart/2005/8/layout/vList5"/>
    <dgm:cxn modelId="{018770CB-1E93-4E23-9E01-BC406662DEA2}" srcId="{CABEDA17-DEA2-4971-BFA8-421302B2F223}" destId="{D6A9AE18-2A9D-4DF2-A182-738C1629717F}" srcOrd="1" destOrd="0" parTransId="{7CA3D6E6-AB33-4DF1-B4B5-8774B497FB4C}" sibTransId="{959331F9-F27F-44C0-96A4-B6EC530BEA93}"/>
    <dgm:cxn modelId="{AEDCE3D6-194A-4055-A657-94EA42494B5C}" srcId="{BCD19A4B-250B-4120-B226-C6AE6301410A}" destId="{E8A73F49-4444-439D-B86D-9417C37DCB7E}" srcOrd="1" destOrd="0" parTransId="{A178A3F4-505D-4F97-91D8-978BE62C48FE}" sibTransId="{0714AE94-36B2-419F-AAE1-3EA67C39E3B5}"/>
    <dgm:cxn modelId="{1F14E1DC-CD9D-4C0E-80A0-E6F0B3FEFC8A}" type="presOf" srcId="{D715BF66-C792-4604-B96E-9654B6E1FA3A}" destId="{89E2CD15-98B2-4845-BCCC-C4A305E53EEA}" srcOrd="0" destOrd="0" presId="urn:microsoft.com/office/officeart/2005/8/layout/vList5"/>
    <dgm:cxn modelId="{53D27BDE-22AD-42EC-B25C-7A0564E7CC7D}" type="presOf" srcId="{E8A73F49-4444-439D-B86D-9417C37DCB7E}" destId="{892768C7-A754-4EF5-9849-DE66F92EE8CF}" srcOrd="0" destOrd="1" presId="urn:microsoft.com/office/officeart/2005/8/layout/vList5"/>
    <dgm:cxn modelId="{DCDF10E0-28DA-4050-9864-3393033C562B}" srcId="{D6A9AE18-2A9D-4DF2-A182-738C1629717F}" destId="{794F4420-7DDB-416C-B7E9-59A368F76DE4}" srcOrd="2" destOrd="0" parTransId="{37F6A689-FD96-4C5C-9FB1-F3854EBD5344}" sibTransId="{FA031482-8273-4A17-B128-BD2D9854E3E7}"/>
    <dgm:cxn modelId="{5B87F361-BC1B-402B-BAF1-F0476FDF25B7}" type="presParOf" srcId="{75DA8952-46F8-4AE6-9616-C88FBB626080}" destId="{79634F19-D602-436E-B980-5E5B0115C7A7}" srcOrd="0" destOrd="0" presId="urn:microsoft.com/office/officeart/2005/8/layout/vList5"/>
    <dgm:cxn modelId="{8CC19E59-D496-47CB-93CB-B2DAFE7268B9}" type="presParOf" srcId="{79634F19-D602-436E-B980-5E5B0115C7A7}" destId="{B33ADDC9-ABD0-41AA-8B2F-68E26C1E033E}" srcOrd="0" destOrd="0" presId="urn:microsoft.com/office/officeart/2005/8/layout/vList5"/>
    <dgm:cxn modelId="{F6F1DD33-A51F-4EE2-98D9-04C722D36D6D}" type="presParOf" srcId="{79634F19-D602-436E-B980-5E5B0115C7A7}" destId="{892768C7-A754-4EF5-9849-DE66F92EE8CF}" srcOrd="1" destOrd="0" presId="urn:microsoft.com/office/officeart/2005/8/layout/vList5"/>
    <dgm:cxn modelId="{1B3A9EB7-FF7B-48DF-8FD8-C656F6315DB3}" type="presParOf" srcId="{75DA8952-46F8-4AE6-9616-C88FBB626080}" destId="{FC9D7696-FFF2-4978-83E8-A6A8F24A7089}" srcOrd="1" destOrd="0" presId="urn:microsoft.com/office/officeart/2005/8/layout/vList5"/>
    <dgm:cxn modelId="{FE3DE827-A4D4-416E-97BF-5E01172C4CBD}" type="presParOf" srcId="{75DA8952-46F8-4AE6-9616-C88FBB626080}" destId="{9875A40F-7076-4C78-858B-9F7B44B4BAEF}" srcOrd="2" destOrd="0" presId="urn:microsoft.com/office/officeart/2005/8/layout/vList5"/>
    <dgm:cxn modelId="{D50C62BC-B053-4386-90EC-2AA662F8520B}" type="presParOf" srcId="{9875A40F-7076-4C78-858B-9F7B44B4BAEF}" destId="{16EA3CF7-02BF-49F8-8FC2-DFC76B28DA30}" srcOrd="0" destOrd="0" presId="urn:microsoft.com/office/officeart/2005/8/layout/vList5"/>
    <dgm:cxn modelId="{B65581ED-FB8A-4C8D-B7E5-1D63F2D6D1B7}" type="presParOf" srcId="{9875A40F-7076-4C78-858B-9F7B44B4BAEF}" destId="{89E2CD15-98B2-4845-BCCC-C4A305E53EE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768C7-A754-4EF5-9849-DE66F92EE8CF}">
      <dsp:nvSpPr>
        <dsp:cNvPr id="0" name=""/>
        <dsp:cNvSpPr/>
      </dsp:nvSpPr>
      <dsp:spPr>
        <a:xfrm rot="5400000">
          <a:off x="4846662" y="-1500817"/>
          <a:ext cx="2001258" cy="550333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accessible, high-quality learning tools for engineering students.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conceptual understanding through step-by-step solutions and chatbot 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095625" y="347913"/>
        <a:ext cx="5405640" cy="1805872"/>
      </dsp:txXfrm>
    </dsp:sp>
    <dsp:sp modelId="{B33ADDC9-ABD0-41AA-8B2F-68E26C1E033E}">
      <dsp:nvSpPr>
        <dsp:cNvPr id="0" name=""/>
        <dsp:cNvSpPr/>
      </dsp:nvSpPr>
      <dsp:spPr>
        <a:xfrm>
          <a:off x="0" y="62"/>
          <a:ext cx="3095624" cy="25015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SDE4: Quality Education</a:t>
          </a:r>
          <a:endParaRPr lang="en-IN" sz="2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2117" y="122179"/>
        <a:ext cx="2851390" cy="2257338"/>
      </dsp:txXfrm>
    </dsp:sp>
    <dsp:sp modelId="{89E2CD15-98B2-4845-BCCC-C4A305E53EEA}">
      <dsp:nvSpPr>
        <dsp:cNvPr id="0" name=""/>
        <dsp:cNvSpPr/>
      </dsp:nvSpPr>
      <dsp:spPr>
        <a:xfrm rot="5400000">
          <a:off x="4846662" y="1125833"/>
          <a:ext cx="2001258" cy="550333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Builds an innovative digital learning platform using AI, NLP, and symbolic computation.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Encourages the integration of technology in education to modernize the learning process.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095625" y="2974564"/>
        <a:ext cx="5405640" cy="1805872"/>
      </dsp:txXfrm>
    </dsp:sp>
    <dsp:sp modelId="{16EA3CF7-02BF-49F8-8FC2-DFC76B28DA30}">
      <dsp:nvSpPr>
        <dsp:cNvPr id="0" name=""/>
        <dsp:cNvSpPr/>
      </dsp:nvSpPr>
      <dsp:spPr>
        <a:xfrm>
          <a:off x="0" y="2626713"/>
          <a:ext cx="3095624" cy="25015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SDE9: Industry, Innovation, and Infrastructure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2117" y="2748830"/>
        <a:ext cx="2851390" cy="2257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13E887A5-7622-E25A-D1C2-B05A1C4A881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B84A245-0593-4853-A681-143E6729051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D885CB1-7B19-46DA-AF63-383A085B60DD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FF72444-08AB-4C34-B6E5-ED201BC088B5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DD8BA52-3734-43CA-A9EB-B9BDC6AB1F85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FF9CFF9-5298-4E8C-BA4C-6B8057EAB9B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B7E0A212-B95A-4EBC-98E5-7FECE1270C87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D7D17519-DDA5-033A-DE87-CA7BE59EAA4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0A2FE5-3070-4BD4-AE14-41D2896232E0}" type="slidenum">
              <a:rPr lang="en-IN" altLang="en-US" sz="1400"/>
              <a:pPr>
                <a:spcBef>
                  <a:spcPct val="0"/>
                </a:spcBef>
              </a:pPr>
              <a:t>1</a:t>
            </a:fld>
            <a:endParaRPr lang="en-IN" altLang="en-US" sz="140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9D81F2EF-E6C2-A179-8EC8-407C6D76F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22795555-DC69-4686-98CA-20A538285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550DF15E-ED4A-0DE3-658C-8F8C65AA359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DCD99B2-1357-44DD-9976-0261202C189E}" type="slidenum">
              <a:rPr lang="en-IN" altLang="en-US" sz="1400"/>
              <a:pPr>
                <a:spcBef>
                  <a:spcPct val="0"/>
                </a:spcBef>
              </a:pPr>
              <a:t>17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DB0CDE7B-D68E-0D06-6DA4-29915E77F6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FF1C1DFD-A39F-D89B-3F97-6487BA016D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48E508E9-E609-EDDA-31A9-6F5B5D5812D4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E3E5E11-D0BD-7206-2A62-AE8166D211B2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DF256F-9063-9BE4-13B2-78568742B54C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1BC645B0-DAE1-F4B9-C69D-FAB903DEF83A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B84C3581-5C49-05A6-8DE0-981F92C78CEF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8D2DFC5B-0CE6-33F7-C740-4F252D0D04D2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EF339A58-82CC-9B08-BC37-965D4F9424A5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CA00B651-8624-2750-E88E-C251E7B6EE14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B68D2602-1AEC-6171-D3D4-6E5A3FD2AFBD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FBBE723D-800D-64CC-EC67-2335D91C10EE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F409D5A-C56C-A57E-1B25-989031808A6C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B8294F6-95E0-DF3E-1163-4090829A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F7681-B6AB-492D-9354-B7E542934163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D28A2AD-EDFC-3CA0-1CD0-064DC8BE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4016283-8454-1DFF-0A23-1F75927A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19434-898A-4D21-9F66-1292B04FEE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04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EEBF2-9542-A74B-231C-5DAB18DF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9B345-30CA-4F5B-BBF5-DFCEF052AEB4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BAC27-4948-A4B7-1808-E8CD4A62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D8A00-C020-3EF1-E8F8-618F80B8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C4BC3-CC40-45A8-8595-C734FC8E32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92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CFF29-7D38-A3AB-C53B-F5829DCD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52311-E810-4691-BF61-F1682FF19D99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4829C-6DBE-942B-9516-F8E9E944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480D-B1DD-BDAA-981C-DD8BFED6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A853B2-36DD-43D8-A5B5-86DC852B8F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75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18D8F7D-B0E6-7AC4-B31D-8DEAEDDC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CCB84-7DC1-4ABB-8A49-1D5B7C0B43D1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2E2744-ABBB-87A3-B344-C42A5C51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C29AEF-7D43-2978-3F7A-C8A6649A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CB8A14-14A9-4C98-8B1E-B55F85B06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0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DAC3D33-9E42-7371-753B-96202E6C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B240B-FE84-40B6-82ED-ABE4D7691D04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41BFD6-08E5-6DEA-A847-74FB0D8B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161EBB-B0D2-AD12-93B6-35C51105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A9BA6-3E61-46ED-82BD-37542FE93B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61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8ECBF9-82F5-EBBF-2DEB-23678539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737CE-2032-4F6B-AE68-63AB7A88F5B2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BD292E-EA6C-1B8E-2A62-F2974DBA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BFFB85-42EC-DB59-21D6-387F2D6E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D60EE-F3A4-44F6-B34E-CE4EB972A2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81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8305B36-F2F7-C26B-1B2A-58BD8F70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4636C-021B-45DB-B338-CD8780BE3528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7CBF69-7D86-2F1E-50F9-D6761D04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76FFE3-A7DB-3DBB-0EF5-4BE44ECE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2D311-CF4D-45EC-A528-2EA2DFB8BE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27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5895B8-D4E8-6703-2E46-E3F09102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AB27D-23BF-4C1D-87C3-9BC579EE4CF3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7416E4-CE96-67FF-6D99-C323A8AA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35E078-B9EE-2D97-CC83-9707B962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374D21-F75B-4D37-A5A6-B4835C1642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59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0BEC94-BB5F-1031-2437-73856185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2304D-21A8-4A53-AD1C-2079164A9F3D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3CF794-7198-AF1B-6CD5-B969609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EBBDAF-A661-AE79-5B52-8EE3A3A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494B46-8B17-4DE3-871A-A04360C47D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79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A28E0-4AC9-D08C-92EE-4C4B60AD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12BE5-0DBC-413B-AB68-64F6A590B493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AF98-9F31-136F-E6F2-5B0C4CEF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24BD-2816-CA86-A360-BE9098DA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A0A06-2F08-4942-9162-0B9F30D7ED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30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50042E-2992-B002-891A-31C8C1E59258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3F0FD-16E0-E875-1E55-F48089D2F85F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5D3E2B5-4FC6-B7C1-422F-EA51355E05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B5CD9-6C90-4250-AC62-4B40B5F6C804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49053F9-7F85-C962-BE9B-12F2E79DA7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88F499-87DE-6BF0-4D04-4A7D975EF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F327B5D-834B-4858-A21A-1A2EA73210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53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03BD-0515-C06A-64EC-5D1C1B00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17CFC-F894-401D-B4FD-52756E438FAB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D71FF-E234-3953-B011-107A6D1A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37F7-7C70-106F-5C6D-A471C19D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BC2B4D-3123-4670-A46D-234C2A6E29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2450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64AC5D-D593-C84F-924D-8147C5466F87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058EF-6E74-E026-AAAC-7BA3DBD5F001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21BD56-CCE8-598E-37B6-036AFB3F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843D9-ECBE-485F-9384-A9F8289B967C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5E518B-79AA-C42C-4771-22B531C94FD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C40A4E-42A2-96E3-B3E0-12806945F1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4921B05-AE94-4D61-905E-D3CF103788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564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C5066-0CF1-1290-24A0-4A25F8B940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4C32E-3775-42A5-A5E2-4B9048D7F218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7F5D2-E491-5C68-33B5-6335E45D0D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245D-497B-2DE3-2DD2-A52AA4639D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DBC4CED-81BB-47AA-8D0A-AEF867EB4A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213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1D272-5B9A-728A-BC77-3C305D2C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07CBA-AEB7-4C2F-BDFC-63FEC47B7A67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449D-1A65-76BF-EBDB-1102EB94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3C7A7-9ABE-C5F7-9CBA-276BD1E3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56165E-D20E-4C0E-906C-4F69E51708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35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5ED4-D4C4-9DB0-8C51-79D1755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0261A-3948-4A31-AAE8-2629EB7500AF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F1124-AB90-63E4-C5CA-4BF0A563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3EBA7-3F63-25A4-12DE-4093EAE1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A7229-6797-4A3B-8050-8290F5253B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41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9A090602-DECF-FAE0-ACDB-E793CD929CDC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791C00C-B866-4808-9307-7B228AAF9591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4AD80E1-0EDB-49F1-84C5-4AE6EA3082E8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44D9434-3081-4960-8F77-02057E8A5DF4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3A5C832-44A1-446D-885E-C3C890D48DB5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DF7577B-5373-4B9B-A88D-9B93144FEAA4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3E4ADBB-FC19-4E84-9FAD-2ED38D552813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090B774-BCE0-422B-88E3-7DFDE655A1B0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AC1D18C-9C5B-4D45-A30A-7428ACE2306F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2493AE8-C49C-48C3-A40D-1E05A874E09C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E7F17C3-6791-4371-BCEA-B97CD75562E2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5E8CC550-22ED-C794-0F3B-63D715997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A8A01EC1-8E12-58EA-A236-DBE337922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86AF8-CC03-435F-AFB1-AB8E20FA1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DE83EFD-4629-43B8-B324-B133B37A2E2D}" type="datetimeFigureOut">
              <a:rPr lang="en-US"/>
              <a:pPr>
                <a:defRPr/>
              </a:pPr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E049-9EBA-49D2-8AA8-D3CC326A8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B3135-E6F8-4593-95E5-970052958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chemeClr val="accent1"/>
                </a:solidFill>
              </a:defRPr>
            </a:lvl1pPr>
          </a:lstStyle>
          <a:p>
            <a:fld id="{59837DB0-1973-49C4-AE16-B195E91E749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087" r:id="rId2"/>
    <p:sldLayoutId id="2147484088" r:id="rId3"/>
    <p:sldLayoutId id="2147484089" r:id="rId4"/>
    <p:sldLayoutId id="2147484090" r:id="rId5"/>
    <p:sldLayoutId id="2147484091" r:id="rId6"/>
    <p:sldLayoutId id="2147484092" r:id="rId7"/>
    <p:sldLayoutId id="2147484093" r:id="rId8"/>
    <p:sldLayoutId id="2147484094" r:id="rId9"/>
    <p:sldLayoutId id="2147484095" r:id="rId10"/>
    <p:sldLayoutId id="2147484101" r:id="rId11"/>
    <p:sldLayoutId id="2147484096" r:id="rId12"/>
    <p:sldLayoutId id="2147484102" r:id="rId13"/>
    <p:sldLayoutId id="2147484097" r:id="rId14"/>
    <p:sldLayoutId id="2147484098" r:id="rId15"/>
    <p:sldLayoutId id="2147484099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311750AD-B385-4254-AD1B-32F87B383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903413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Math-Minds: A Stepwise Solution Generator for Engineering Mathematics Problems using OCR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Kartik Parmar – 22106101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Dhruv Wesavkar–22106016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Niraj Patel-22106050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Rohan Patil –22106044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Vijaya Bharathi Jagan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037825-D6BE-4A03-815F-9BBF5AD73AF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8" name="Picture 3">
            <a:extLst>
              <a:ext uri="{FF2B5EF4-FFF2-40B4-BE49-F238E27FC236}">
                <a16:creationId xmlns:a16="http://schemas.microsoft.com/office/drawing/2014/main" id="{C1169600-3F92-E173-1247-1D5FFCCDF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B76A450-1E20-91EA-FBB9-1078BA9AE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363" y="611188"/>
            <a:ext cx="6997700" cy="1455737"/>
          </a:xfrm>
        </p:spPr>
        <p:txBody>
          <a:bodyPr/>
          <a:lstStyle/>
          <a:p>
            <a:r>
              <a:rPr lang="en-I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4923055C-EDDB-E2F0-5C86-91855357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0362" y="1910824"/>
            <a:ext cx="9359899" cy="440120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students in first and second years often face difficulties in understanding complex mathematical concepts.</a:t>
            </a:r>
          </a:p>
          <a:p>
            <a:pPr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 like Laplace Transforms, Linear Programming, Fourier Series, Z-Transforms, and Probability form the core of the Mumbai University M1–M4 syllabus.</a:t>
            </a:r>
          </a:p>
          <a:p>
            <a:pPr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learning platforms offer isolated solutions with minimal explanations, leading to confusion and time loss.</a:t>
            </a:r>
          </a:p>
          <a:p>
            <a:pPr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aims to build a centralized, AI-powered platform that:</a:t>
            </a:r>
          </a:p>
          <a:p>
            <a:pPr lvl="1"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step-by-step problem solving using symbolic computation.</a:t>
            </a:r>
          </a:p>
          <a:p>
            <a:pPr lvl="1"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image and NLP-based inputs for ease of use.</a:t>
            </a:r>
          </a:p>
          <a:p>
            <a:pPr lvl="1"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an interactive chatbot for real-time doubt clarification.</a:t>
            </a:r>
          </a:p>
          <a:p>
            <a:pPr algn="just" defTabSz="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platform will serve as a smart academic assistant, improving understanding, accessibility, and learning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C16355C-9255-45D8-9B04-0306249906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3194" y="129984"/>
            <a:ext cx="9001125" cy="1323439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defTabSz="457200">
              <a:spcBef>
                <a:spcPct val="0"/>
              </a:spcBef>
              <a:buClrTx/>
              <a:buSzTx/>
              <a:defRPr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457200">
              <a:spcBef>
                <a:spcPct val="0"/>
              </a:spcBef>
              <a:buClrTx/>
              <a:buSzTx/>
              <a:defRPr/>
            </a:pPr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algn="l" defTabSz="457200">
              <a:spcBef>
                <a:spcPct val="0"/>
              </a:spcBef>
              <a:buClrTx/>
              <a:buSzTx/>
              <a:defRPr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05E1DD9-81E1-B7E2-59C4-2D639F3F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850"/>
            <a:ext cx="30638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endParaRPr lang="en-US" altLang="en-US"/>
          </a:p>
          <a:p>
            <a:pPr>
              <a:buFontTx/>
              <a:buChar char="•"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D22614-0AEC-5F97-8F71-73CBE6898B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3194" y="1936665"/>
            <a:ext cx="900112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To develop a centralized web platform that covers the entire M1 to M4 engineering mathematics syllabus.</a:t>
            </a:r>
          </a:p>
          <a:p>
            <a:pPr marL="342900" marR="0" lvl="0" indent="-34290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To provide step-by-step solutions for both symbolic and numerical problems.</a:t>
            </a:r>
          </a:p>
          <a:p>
            <a:pPr marL="342900" marR="0" lvl="0" indent="-34290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To support manual input as well as image-based input using OCR and natural language processing (NLP).</a:t>
            </a:r>
          </a:p>
          <a:p>
            <a:pPr marL="342900" marR="0" lvl="0" indent="-34290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To implement a chatbot assistant that helps explain individual steps and concepts to students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842A23-983D-4B13-9232-71BB6E56B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13037"/>
              </p:ext>
            </p:extLst>
          </p:nvPr>
        </p:nvGraphicFramePr>
        <p:xfrm>
          <a:off x="340856" y="899517"/>
          <a:ext cx="9577063" cy="639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177">
                  <a:extLst>
                    <a:ext uri="{9D8B030D-6E8A-4147-A177-3AD203B41FA5}">
                      <a16:colId xmlns:a16="http://schemas.microsoft.com/office/drawing/2014/main" val="1037865485"/>
                    </a:ext>
                  </a:extLst>
                </a:gridCol>
                <a:gridCol w="1572353">
                  <a:extLst>
                    <a:ext uri="{9D8B030D-6E8A-4147-A177-3AD203B41FA5}">
                      <a16:colId xmlns:a16="http://schemas.microsoft.com/office/drawing/2014/main" val="641156834"/>
                    </a:ext>
                  </a:extLst>
                </a:gridCol>
                <a:gridCol w="1715295">
                  <a:extLst>
                    <a:ext uri="{9D8B030D-6E8A-4147-A177-3AD203B41FA5}">
                      <a16:colId xmlns:a16="http://schemas.microsoft.com/office/drawing/2014/main" val="1570623085"/>
                    </a:ext>
                  </a:extLst>
                </a:gridCol>
                <a:gridCol w="2144119">
                  <a:extLst>
                    <a:ext uri="{9D8B030D-6E8A-4147-A177-3AD203B41FA5}">
                      <a16:colId xmlns:a16="http://schemas.microsoft.com/office/drawing/2014/main" val="343968542"/>
                    </a:ext>
                  </a:extLst>
                </a:gridCol>
                <a:gridCol w="2144119">
                  <a:extLst>
                    <a:ext uri="{9D8B030D-6E8A-4147-A177-3AD203B41FA5}">
                      <a16:colId xmlns:a16="http://schemas.microsoft.com/office/drawing/2014/main" val="168892037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8942"/>
                  </a:ext>
                </a:extLst>
              </a:tr>
              <a:tr h="17641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SOLVE IT (MATH SOLVER)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Presents a math-solving application that handles equations, algebra, and basic calculus through computational algorithms.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Demonstrated effectiveness in solving standard mathematical problems and helping students learn step-by-step.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Combination of OCR (for input), symbolic solvers, and predefined algorithms for algebra and calculus.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Extend capability to handle complex engineering-level math and enhance OCR for handwritten problems.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173266"/>
                  </a:ext>
                </a:extLst>
              </a:tr>
              <a:tr h="1764196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SymPy</a:t>
                      </a:r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: Symbolic Computing in Python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Introduces </a:t>
                      </a:r>
                      <a:r>
                        <a:rPr lang="en-US" sz="1400" dirty="0" err="1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SymPy</a:t>
                      </a:r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an open-source Python library for symbolic mathematics, capable of handling algebra, calculus, number theory, and more.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Found to be a lightweight yet powerful tool widely adopted for research, teaching, and prototyping.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Python-based symbolic computation, modular design, algorithms for simplification, equation solving, differentiation, and integration.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Improve performance for large-scale problems, expand coverage of advanced domains, and enhance integration with machine learning.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06080"/>
                  </a:ext>
                </a:extLst>
              </a:tr>
              <a:tr h="1764196"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Effectiveness of Intelligent Tutoring Systems: A Meta-Analytic Review</a:t>
                      </a:r>
                    </a:p>
                    <a:p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Reviews multiple studies on the effectiveness of Intelligent Tutoring Systems (ITS) in education.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ITS improves student learning outcomes significantly compared to traditional methods; benefits noted in personalized learning.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Meta-analysis of existing research studies and experiments involving ITS.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Wider adoption in classrooms, integration with AI for adaptability, and extending ITS to diverse subjects.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6310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45D7A5-C1DC-66DB-5AC5-7530FA238F28}"/>
              </a:ext>
            </a:extLst>
          </p:cNvPr>
          <p:cNvSpPr txBox="1"/>
          <p:nvPr/>
        </p:nvSpPr>
        <p:spPr>
          <a:xfrm>
            <a:off x="340856" y="265078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84863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3C901B-01C9-4A68-9AD4-F6C766D44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80543"/>
              </p:ext>
            </p:extLst>
          </p:nvPr>
        </p:nvGraphicFramePr>
        <p:xfrm>
          <a:off x="143767" y="251445"/>
          <a:ext cx="9793090" cy="702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9">
                  <a:extLst>
                    <a:ext uri="{9D8B030D-6E8A-4147-A177-3AD203B41FA5}">
                      <a16:colId xmlns:a16="http://schemas.microsoft.com/office/drawing/2014/main" val="3462226661"/>
                    </a:ext>
                  </a:extLst>
                </a:gridCol>
                <a:gridCol w="2045027">
                  <a:extLst>
                    <a:ext uri="{9D8B030D-6E8A-4147-A177-3AD203B41FA5}">
                      <a16:colId xmlns:a16="http://schemas.microsoft.com/office/drawing/2014/main" val="487879819"/>
                    </a:ext>
                  </a:extLst>
                </a:gridCol>
                <a:gridCol w="1958618">
                  <a:extLst>
                    <a:ext uri="{9D8B030D-6E8A-4147-A177-3AD203B41FA5}">
                      <a16:colId xmlns:a16="http://schemas.microsoft.com/office/drawing/2014/main" val="2593561057"/>
                    </a:ext>
                  </a:extLst>
                </a:gridCol>
                <a:gridCol w="1958618">
                  <a:extLst>
                    <a:ext uri="{9D8B030D-6E8A-4147-A177-3AD203B41FA5}">
                      <a16:colId xmlns:a16="http://schemas.microsoft.com/office/drawing/2014/main" val="368761047"/>
                    </a:ext>
                  </a:extLst>
                </a:gridCol>
                <a:gridCol w="1958618">
                  <a:extLst>
                    <a:ext uri="{9D8B030D-6E8A-4147-A177-3AD203B41FA5}">
                      <a16:colId xmlns:a16="http://schemas.microsoft.com/office/drawing/2014/main" val="339807322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78206"/>
                  </a:ext>
                </a:extLst>
              </a:tr>
              <a:tr h="644936"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Advancing Education through Tutoring Systems: A Systematic Literature Review</a:t>
                      </a:r>
                    </a:p>
                    <a:p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Provides a systematic review of recent work on tutoring systems, analyzing advancements and challenges.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Identifies trends in adaptive learning, AI integration, and limitations like lack of personalization and domain specificity.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Literature review methodology across various tutoring system studies.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Development of more adaptive, domain-specific, and scalable intelligent tutoring systems.</a:t>
                      </a:r>
                      <a:endParaRPr lang="en-IN" sz="14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506811"/>
                  </a:ext>
                </a:extLst>
              </a:tr>
              <a:tr h="14346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 Expression Tree Decoding Strategy for Mathematical Equation Generation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Proposes a novel decoding strategy using expression trees for generating mathematical equations from natural language problems.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Expression tree strategy improves accuracy and structure in equation generation compared to sequence-only models.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NLP techniques, expression tree-based decoding, tested on benchmark datasets like Math23K.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Extend to multilingual problem solving, enhance handling of complex equations, and integrate into tutoring/solver systems.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837940"/>
                  </a:ext>
                </a:extLst>
              </a:tr>
              <a:tr h="169218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Convolutional Sequence Network for Mathematical Expression Recognition. 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Deep learning model that converts math expression images into LaTeX using convolutional encoder–decoder with attention.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Outperforms older models (WAP, WYGIWYS) on IM2LATEX-100K with higher accuracy and faster inference.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CNN encoder (</a:t>
                      </a:r>
                      <a:r>
                        <a:rPr lang="en-IN" sz="1400" dirty="0" err="1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ResNet</a:t>
                      </a:r>
                      <a:r>
                        <a:rPr lang="en-IN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-based), convolutional decoder (instead of LSTM), multi-layer attention, IM2LATEX-100K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Extend to handwritten equations, handle complex layouts (matrices, multi-line), apply to other image-to-markup tasks.</a:t>
                      </a:r>
                    </a:p>
                    <a:p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800867"/>
                  </a:ext>
                </a:extLst>
              </a:tr>
              <a:tr h="169218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Introduction to Mathematical Language Processing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Defines Mathematical Language Processing (MLP) as applying NLP methods to parse, understand, and reason over mathematical expressions.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Existing NLP/AI struggle with math-specific syntax and structure; need for combining symbolic and semantic approaches.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Framework + survey of parsing methods, equation encoders, symbolic tools, and datasets.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Stronger handwritten/complex math recognition, integration of solvers with LLMs, standardized datasets, and educational tutoring applications.</a:t>
                      </a:r>
                      <a:endParaRPr lang="en-IN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24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66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033C-A871-4C9A-BC6D-CA5F8C5C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2" y="671514"/>
            <a:ext cx="9121327" cy="660052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3337-1CF2-4DEA-B219-B258450A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2" y="1403573"/>
            <a:ext cx="8833296" cy="5484588"/>
          </a:xfrm>
        </p:spPr>
        <p:txBody>
          <a:bodyPr/>
          <a:lstStyle/>
          <a:p>
            <a:pPr algn="just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Existing tools like (Wolfram,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Sympy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, SOLVE IT) are more for a generic use, which are not tailored towards Engineering students.</a:t>
            </a:r>
          </a:p>
          <a:p>
            <a:pPr algn="just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OCR has low accuracy for handwritten and complex mathematics.</a:t>
            </a:r>
          </a:p>
          <a:p>
            <a:pPr algn="just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There is a lack of integration between the solver, learning material and tutoring.</a:t>
            </a:r>
          </a:p>
          <a:p>
            <a:pPr algn="just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Existing tools have not generally give a direct solution, while not showcasing how it reached the final result.</a:t>
            </a:r>
          </a:p>
          <a:p>
            <a:pPr marL="0" indent="0">
              <a:buClrTx/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9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>
            <a:extLst>
              <a:ext uri="{FF2B5EF4-FFF2-40B4-BE49-F238E27FC236}">
                <a16:creationId xmlns:a16="http://schemas.microsoft.com/office/drawing/2014/main" id="{35FE9D56-7F68-7C96-AFFF-7CF16F492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99" y="609848"/>
            <a:ext cx="39068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Problem statement</a:t>
            </a:r>
            <a:endParaRPr lang="en-IN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697F2-C7A4-48EB-B65F-F90C2D808EDA}"/>
              </a:ext>
            </a:extLst>
          </p:cNvPr>
          <p:cNvSpPr txBox="1"/>
          <p:nvPr/>
        </p:nvSpPr>
        <p:spPr>
          <a:xfrm>
            <a:off x="332399" y="1331565"/>
            <a:ext cx="89430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Many first- and second-year engineering students face difficulties solving core math problems from M1 to M4. Existing online tools are scattered, topic-specific, and provide only final answers without explanations. They also lack interactive features like image/NLP input and chatbot-based doubt clarification, making learning incomplete and less engaging.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E412-5237-22C8-2F80-5CCEE5D8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68" y="467469"/>
            <a:ext cx="6997700" cy="663649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Novelty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AC6CD2-885D-C523-2B21-1AE31E6DCC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768" y="1550204"/>
            <a:ext cx="9248494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Syllabus Coverage (M1–M4):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Unlike most tools that cover only a few topics, this platform is designed to 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cover the entire engineering math curriculum of MU in one place.</a:t>
            </a: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Symbolic Logic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Provides detailed, human-readable step-by-step solutions using symbolic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computation—not just final answers.</a:t>
            </a: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Image-Based Input:</a:t>
            </a:r>
            <a:b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Allows students to upload textbook questions or handwritten problems using 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OCR (Optical Character Recognition)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(NLP):</a:t>
            </a:r>
            <a:b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input questions in plain English (e.g., "Find Laplace transform 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of e^(-2t)sin3t")  no need to know syntax.</a:t>
            </a: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Doubt-Solving Chatbot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 built-in AI assistant explains steps, answers questions, and suggests </a:t>
            </a:r>
          </a:p>
          <a:p>
            <a:pPr marL="0" indent="0" defTabSz="457200">
              <a:spcBef>
                <a:spcPct val="0"/>
              </a:spcBef>
              <a:buClrTx/>
              <a:buSz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alternate methods or links to theory.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4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D990-4FE4-70F9-04DB-B5E56158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84" y="172243"/>
            <a:ext cx="6997700" cy="1455737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E83F3A-B001-8BDE-FB72-3A7A0B7653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77" y="1363791"/>
            <a:ext cx="998433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web-based platform designed to help engineering students master core 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0"/>
              </a:spcBef>
              <a:buClrTx/>
              <a:buSzTx/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Mathematics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subjects (M1–M4).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Homepage features four tabs — each representing a semester’s syllabus.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Clicking on a tab opens topic-wise modules such as: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Numbers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Methods, etc.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module includes an interactive solver that: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Accepts mathematical inputs.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step-by-step solutions.</a:t>
            </a:r>
          </a:p>
          <a:p>
            <a:pPr lvl="1" algn="just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downloadable or expandable formula sheet for quick reference.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interface ensures structured input, maintaining clarity and accuracy.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computation and conceptual understanding within a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centralized platform to enhance learning.</a:t>
            </a:r>
          </a:p>
        </p:txBody>
      </p:sp>
    </p:spTree>
    <p:extLst>
      <p:ext uri="{BB962C8B-B14F-4D97-AF65-F5344CB8AC3E}">
        <p14:creationId xmlns:p14="http://schemas.microsoft.com/office/powerpoint/2010/main" val="129242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DD35A5-F4FA-461F-6916-BB04D7AF7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880" y="0"/>
            <a:ext cx="7056784" cy="70201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24F80C-A31E-81A0-344A-06843C032765}"/>
              </a:ext>
            </a:extLst>
          </p:cNvPr>
          <p:cNvSpPr txBox="1"/>
          <p:nvPr/>
        </p:nvSpPr>
        <p:spPr>
          <a:xfrm>
            <a:off x="3168104" y="7015650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 </a:t>
            </a:r>
          </a:p>
        </p:txBody>
      </p:sp>
    </p:spTree>
    <p:extLst>
      <p:ext uri="{BB962C8B-B14F-4D97-AF65-F5344CB8AC3E}">
        <p14:creationId xmlns:p14="http://schemas.microsoft.com/office/powerpoint/2010/main" val="370795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89CCEF6-00A9-1C58-FD15-472B893E7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5816" y="209959"/>
            <a:ext cx="6997700" cy="1455737"/>
          </a:xfrm>
        </p:spPr>
        <p:txBody>
          <a:bodyPr/>
          <a:lstStyle/>
          <a:p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Tech Stack Used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7E4950F-A9B3-A031-10A8-A243F0CA6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5816" y="908891"/>
            <a:ext cx="8256587" cy="5976938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/ CSS3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Structure &amp; styling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Dynamic behavior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Responsive UI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MathJax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-To render mathematical equations beautifully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Core language for logic and mathematical solving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Lightweight backend framework to serve APIs and web pages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For symbolic mathematics, algebraic manipulations, step-by-step solving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/ SciPy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For numerical computation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+ </a:t>
            </a:r>
            <a:r>
              <a:rPr lang="en-US" alt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For reading and extracting math expressions from images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Pix2Tex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Converts mathematical equations into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format.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8D2B-EC70-4584-863B-2D85FA51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92" y="467469"/>
            <a:ext cx="6997914" cy="587586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B0035-E72D-4D68-B14A-6193526F5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187" y="1067106"/>
            <a:ext cx="4504854" cy="3337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B40F22-5B8E-42B4-B37F-C04681F4E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944" y="4522926"/>
            <a:ext cx="5527341" cy="264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4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40F74-B473-4E48-B8A0-0B3B7560E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920" y="323453"/>
            <a:ext cx="6253080" cy="3240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97B1F3-D848-4A6F-BC94-11AF35386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960" y="3775757"/>
            <a:ext cx="57603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0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7351-F8DE-D7AE-A49B-0EAC1F59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26D08-40EC-ABB1-253F-93F53028B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2" y="1475581"/>
            <a:ext cx="9265343" cy="5688632"/>
          </a:xfrm>
        </p:spPr>
        <p:txBody>
          <a:bodyPr/>
          <a:lstStyle/>
          <a:p>
            <a:pPr marL="439738" lvl="1" indent="0" defTabSz="457200">
              <a:spcBef>
                <a:spcPct val="0"/>
              </a:spcBef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439738" lvl="1" indent="0" defTabSz="457200">
              <a:spcBef>
                <a:spcPct val="0"/>
              </a:spcBef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79FFC53-BF5B-98C5-58C9-7D8C018869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355442"/>
              </p:ext>
            </p:extLst>
          </p:nvPr>
        </p:nvGraphicFramePr>
        <p:xfrm>
          <a:off x="431800" y="1452554"/>
          <a:ext cx="8598958" cy="5128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424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89C6-C45A-4C35-898E-F5C675C6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4"/>
            <a:ext cx="6997700" cy="732060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451B6-C8B7-4EF4-A4D6-3F61A6362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2" y="1475581"/>
            <a:ext cx="8905303" cy="5832648"/>
          </a:xfrm>
        </p:spPr>
        <p:txBody>
          <a:bodyPr/>
          <a:lstStyle/>
          <a:p>
            <a:pPr marL="0" indent="0" algn="just">
              <a:buClr>
                <a:schemeClr val="tx1"/>
              </a:buClr>
              <a:buNone/>
            </a:pP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[1] Amal Vijay G. 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Rosilin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R,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Gunanidhi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D.,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Sobana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K. S. and Mrs. R.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Umamageshwari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(2025). SOLVE IT (MATH SOLVER). International Journal of Research in Engineering &amp; Science ISSN:(P) 2572-4274 (O) 2572-4304, 9(2), 1–7.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[2] Vincent Liu, Ehsan Latif, and </a:t>
            </a:r>
            <a:r>
              <a:rPr lang="en-US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Xiaoming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Zhai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(2025). Advancing Education through Tutoring Systems: A Systematic Literature Review.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[3]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Wenqi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Zhang,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Yongliang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Shen,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Qingpeng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Nong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Zeqi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Tan,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Yanna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Ma, and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Weiming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Lu. 2023. An Expression Tree Decoding Strategy for Mathematical Equation Generation. In Proceedings of the 2023 Conference on Empirical Methods in Natural Language Processing, pages 439–456, Singapore. Association for Computational Linguistics.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[4] 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Jordan Meadows, André Freitas; Introduction to Mathematical Language Processing: Informal Proofs, Word Problems, and Supporting Tasks. </a:t>
            </a:r>
            <a:r>
              <a:rPr lang="en-US" sz="2000" i="1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Transactions of the Association for Computational Linguistics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 2023; 11 1162–1184.</a:t>
            </a:r>
            <a:r>
              <a:rPr lang="en-US" dirty="0"/>
              <a:t> 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 </a:t>
            </a:r>
            <a:endParaRPr lang="en-IN" sz="20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just">
              <a:buClr>
                <a:schemeClr val="tx1"/>
              </a:buClr>
              <a:buNone/>
            </a:pP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[5]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Zuoyu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Xiaode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Zhang,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Liangcai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Gao,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Yuan and </a:t>
            </a:r>
            <a:r>
              <a:rPr lang="en-IN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Zhi</a:t>
            </a:r>
            <a:r>
              <a:rPr lang="en-IN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Tang.(2020). </a:t>
            </a:r>
            <a:r>
              <a:rPr lang="en-US" sz="20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ConvMath</a:t>
            </a:r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A Convolutional Sequence Network for Mathematical Expression Recognition. </a:t>
            </a:r>
            <a:endParaRPr lang="en-IN" sz="20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Clr>
                <a:schemeClr val="tx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73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391F-C465-438A-BFF9-251DB896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4"/>
            <a:ext cx="6997700" cy="732060"/>
          </a:xfrm>
        </p:spPr>
        <p:txBody>
          <a:bodyPr/>
          <a:lstStyle/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E7931-AEF4-477D-A26A-05EA6588A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2" y="1417499"/>
            <a:ext cx="8833295" cy="5470662"/>
          </a:xfrm>
        </p:spPr>
        <p:txBody>
          <a:bodyPr/>
          <a:lstStyle/>
          <a:p>
            <a:pPr marL="0" indent="0" algn="just">
              <a:buNone/>
            </a:pP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[6]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Meurer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A, Smith CP, Paprocki M,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Čertík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Kirpichev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SB, Rocklin M, Kumar A, Ivanov S, Moore JK, Singh S,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Rathnayake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Vig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S, Granger BE, Muller RP,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Bonazzi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F, Gupta H, Vats S, Johansson F,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Pedregosa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F, Curry MJ, Terrel AR,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Roučka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Š,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Saboo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A, Fernando I,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Kulal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Cimrman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R,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Scopatz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A. 2017. </a:t>
            </a:r>
            <a:r>
              <a:rPr lang="en-IN" sz="18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SymPy</a:t>
            </a:r>
            <a:r>
              <a:rPr lang="en-IN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symbolic computing in Python. </a:t>
            </a:r>
            <a:endParaRPr lang="en-US" sz="18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[7] Kulik, J. A., &amp; Fletcher, J. D. (2016). Effectiveness of Intelligent Tutoring Systems: A Meta-Analytic Review. Review of Educational Research, 86(1), 42-78. </a:t>
            </a:r>
            <a:endParaRPr lang="en-IN" sz="18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022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357F7C05-BBAC-9297-77B6-4FB8AC50D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2132</TotalTime>
  <Words>1642</Words>
  <Application>Microsoft Office PowerPoint</Application>
  <PresentationFormat>Custom</PresentationFormat>
  <Paragraphs>141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Source sans pro</vt:lpstr>
      <vt:lpstr>Times New Roman</vt:lpstr>
      <vt:lpstr>Trebuchet MS</vt:lpstr>
      <vt:lpstr>Wingdings</vt:lpstr>
      <vt:lpstr>Wingdings 3</vt:lpstr>
      <vt:lpstr>Facet</vt:lpstr>
      <vt:lpstr>PowerPoint Presentation</vt:lpstr>
      <vt:lpstr>Introduction</vt:lpstr>
      <vt:lpstr>PowerPoint Presentation</vt:lpstr>
      <vt:lpstr>PowerPoint Presentation</vt:lpstr>
      <vt:lpstr>PowerPoint Presentation</vt:lpstr>
      <vt:lpstr>Limitations of Existing Systems </vt:lpstr>
      <vt:lpstr>PowerPoint Presentation</vt:lpstr>
      <vt:lpstr>Novelty</vt:lpstr>
      <vt:lpstr>System Overview</vt:lpstr>
      <vt:lpstr>PowerPoint Presentation</vt:lpstr>
      <vt:lpstr>Tech Stack Used</vt:lpstr>
      <vt:lpstr>Implementation</vt:lpstr>
      <vt:lpstr>PowerPoint Presentation</vt:lpstr>
      <vt:lpstr>Goals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Kartik Parmar</cp:lastModifiedBy>
  <cp:revision>125</cp:revision>
  <cp:lastPrinted>1601-01-01T00:00:00Z</cp:lastPrinted>
  <dcterms:created xsi:type="dcterms:W3CDTF">2017-10-25T08:22:14Z</dcterms:created>
  <dcterms:modified xsi:type="dcterms:W3CDTF">2026-02-13T06:59:00Z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